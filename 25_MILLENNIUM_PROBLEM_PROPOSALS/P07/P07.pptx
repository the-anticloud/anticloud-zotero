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4FC3F7"/>
                </a:solidFill>
              </a:rPr>
              <a:t>Dark Matter Composition</a:t>
            </a:r>
            <a:br/>
            <a:r>
              <a:t>A Computational Research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CCCCEE"/>
                </a:solidFill>
              </a:rPr>
              <a:t>Lois-Kleinner Alpasan | Anticloud FZ LLE, UAE Free Zone</a:t>
            </a:r>
          </a:p>
          <a:p>
            <a:r>
              <a:rPr sz="1100">
                <a:solidFill>
                  <a:srgbClr val="CCCCEE"/>
                </a:solidFill>
              </a:rPr>
              <a:t>PAX L5 Narrow L2 General 27B | 2026-10-02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A3D62"/>
                </a:solidFill>
              </a:rPr>
              <a:t>PAX Self-Assessment — Confidence Dimensions</a:t>
            </a:r>
          </a:p>
        </p:txBody>
      </p:sp>
      <p:pic>
        <p:nvPicPr>
          <p:cNvPr id="3" name="Picture 2" descr="P07_v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777240"/>
            <a:ext cx="694944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A3D62"/>
                </a:solidFill>
              </a:rPr>
              <a:t>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The Dark Matter (DM) sector is not composed of a single species of Weakly Interacting Massive Particle (WIMP), but rather a composite system dominated by **ultra-light axion-like particles (ALPs)** co</a:t>
            </a:r>
          </a:p>
          <a:p/>
          <a:p>
            <a:r>
              <a:rPr sz="1100">
                <a:solidFill>
                  <a:srgbClr val="222222"/>
                </a:solidFill>
              </a:rPr>
              <a:t>Specifically, we hypothesize that at galactic scales, the ALP field undergoes Bose-Einstein Condensation (BEC), forming macroscopic quantum states (fuzzy dark matter halos), while the self-interacting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A3D62"/>
                </a:solidFill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The Dark Matter Composition (Astrophysics/Cosmology) is one of the most consequential unsolved problems in science.</a:t>
            </a:r>
          </a:p>
          <a:p/>
          <a:p>
            <a:r>
              <a:rPr sz="1100">
                <a:solidFill>
                  <a:srgbClr val="222222"/>
                </a:solidFill>
              </a:rPr>
              <a:t>This framework synthesizes operator theory, algebraic geometry, and modern computational approaches into a structured research scaffold generated by PAX L5 Narrow L2 General 27B.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A3D62"/>
                </a:solidFill>
              </a:rPr>
              <a:t>Proposed Solution: The "Axion-Boson Condensate with Self-Interacting Scalar Sect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A3D62"/>
                </a:solidFill>
              </a:rPr>
              <a:t>1. Core Hypothesis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The Dark Matter (DM) sector is not composed of a single species of Weakly Interacting Massive Particle (WIMP), but rather a composite system dominated by ultra-light axion-like particles (ALPs) couple</a:t>
            </a:r>
          </a:p>
          <a:p/>
          <a:p>
            <a:r>
              <a:rPr sz="1100">
                <a:solidFill>
                  <a:srgbClr val="222222"/>
                </a:solidFill>
              </a:rPr>
              <a:t>Specifically, we hypothesize that at galactic scales, the ALP field undergoes Bose-Einstein Condensation (BEC), forming macroscopic quantum states (fuzzy dark matter halos), while the self-interacting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A3D62"/>
                </a:solidFill>
              </a:rPr>
              <a:t>2. Mathematical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We define the Lagrangian density L_DM in a Friedmann-Lemaître-Robertson-Walker (FLRW) background as the sum of an axionic sector φ and a scalar mediator S:</a:t>
            </a:r>
          </a:p>
          <a:p/>
          <a:p>
            <a:r>
              <a:rPr sz="1100">
                <a:solidFill>
                  <a:srgbClr val="222222"/>
                </a:solidFill>
              </a:rPr>
              <a:t> L_DM = (1/2)(∂_μ φ)(∂^μ φ) - V_axion(φ) + (1/2)(∂_μ S)(∂^μ S) - V_scalar(S) - λ_int φ^2 S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A3D62"/>
                </a:solidFill>
              </a:rPr>
              <a:t>A. Potential Definitions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1. Axion Potential (Periodic):</a:t>
            </a:r>
          </a:p>
          <a:p>
            <a:r>
              <a:rPr sz="1100">
                <a:solidFill>
                  <a:srgbClr val="222222"/>
                </a:solidFill>
              </a:rPr>
              <a:t> V_axion(φ) = m_a^2 f_a^2 [ 1 - ((φ/f_a)) ] ≈ (1/2)m_a^2 φ^2 (for φ f_a) </a:t>
            </a:r>
          </a:p>
          <a:p>
            <a:r>
              <a:rPr sz="1100">
                <a:solidFill>
                  <a:srgbClr val="222222"/>
                </a:solidFill>
              </a:rPr>
              <a:t> Where m_a ~ 10^-22 eV (Fuzzy regime) and f_a is the decay constant.</a:t>
            </a:r>
          </a:p>
          <a:p/>
          <a:p>
            <a:r>
              <a:rPr sz="1100">
                <a:solidFill>
                  <a:srgbClr val="222222"/>
                </a:solidFill>
              </a:rPr>
              <a:t>2. Scalar Potential (Self-Interaction):</a:t>
            </a:r>
          </a:p>
          <a:p>
            <a:r>
              <a:rPr sz="1100">
                <a:solidFill>
                  <a:srgbClr val="222222"/>
                </a:solidFill>
              </a:rPr>
              <a:t> V_scalar(S) = (1/2)m_S^2 S^2 + (κ/4!) S^4 </a:t>
            </a:r>
          </a:p>
          <a:p>
            <a:r>
              <a:rPr sz="1100">
                <a:solidFill>
                  <a:srgbClr val="222222"/>
                </a:solidFill>
              </a:rPr>
              <a:t> Here, m_S allows for Yukawa-type interactions on galactic scales.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A3D62"/>
                </a:solidFill>
              </a:rPr>
              <a:t>B. Evolution Equations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In the non-relativistic limit appropriate for late-time structure formation, the dynamics are governed by the Gross-Pitaevskii-Poisson (GPP) system extended for two fields:</a:t>
            </a:r>
          </a:p>
          <a:p/>
          <a:p>
            <a:r>
              <a:rPr sz="1100">
                <a:solidFill>
                  <a:srgbClr val="222222"/>
                </a:solidFill>
              </a:rPr>
              <a:t> iℏ (∂ ψ/∂ t) = ( -(ℏ^2/2m_a) ∇^2 + m_a Φ + g |ψ|^2 ) ψ </a:t>
            </a:r>
          </a:p>
          <a:p>
            <a:r>
              <a:rPr sz="1100">
                <a:solidFill>
                  <a:srgbClr val="222222"/>
                </a:solidFill>
              </a:rPr>
              <a:t> ∇^2 Φ = 4π G m_a |ψ|^2 + 4π G ρ_S </a:t>
            </a:r>
          </a:p>
          <a:p>
            <a:r>
              <a:rPr sz="1100">
                <a:solidFill>
                  <a:srgbClr val="222222"/>
                </a:solidFill>
              </a:rPr>
              <a:t>Where ψ represents the wavefunction of the condensed axions (|ψ|^2 = ρ_a), g represents the effective self-coupling derived from the interaction term, and ρ_S is the density contribution from the scal</a:t>
            </a:r>
          </a:p>
          <a:p/>
          <a:p>
            <a:r>
              <a:rPr sz="1100">
                <a:solidFill>
                  <a:srgbClr val="222222"/>
                </a:solidFill>
              </a:rPr>
              <a:t>The de Broglie wavelength sets the core scale:</a:t>
            </a:r>
          </a:p>
          <a:p>
            <a:r>
              <a:rPr sz="1100">
                <a:solidFill>
                  <a:srgbClr val="222222"/>
                </a:solidFill>
              </a:rPr>
              <a:t> λ_J ≈ (ℏ/m_a σ_v) ∝ √(1/G ρ) </a:t>
            </a:r>
          </a:p>
          <a:p>
            <a:r>
              <a:rPr sz="1100">
                <a:solidFill>
                  <a:srgbClr val="222222"/>
                </a:solidFill>
              </a:rPr>
              <a:t>For m_a ~ 10^-22 eV, λ_J ~ kpc, naturally smoothing out sub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A3D62"/>
                </a:solidFill>
              </a:rPr>
              <a:t>Conclusion &amp; Provenance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Structured pathways toward resolution of the Dark Matter Composition.</a:t>
            </a:r>
          </a:p>
          <a:p>
            <a:r>
              <a:rPr sz="1100">
                <a:solidFill>
                  <a:srgbClr val="222222"/>
                </a:solidFill>
              </a:rPr>
              <a:t>Formal verification by domain experts is the immediate next step.</a:t>
            </a:r>
          </a:p>
          <a:p/>
          <a:p>
            <a:r>
              <a:rPr sz="1100">
                <a:solidFill>
                  <a:srgbClr val="222222"/>
                </a:solidFill>
              </a:rPr>
              <a:t>SHA3-256: ab1ee372454e3074516361a0cd825758...</a:t>
            </a:r>
          </a:p>
          <a:p>
            <a:r>
              <a:rPr sz="1100">
                <a:solidFill>
                  <a:srgbClr val="222222"/>
                </a:solidFill>
              </a:rPr>
              <a:t>Genesis: 8b4a8a4f6312dfbe885de82807169856...</a:t>
            </a:r>
          </a:p>
          <a:p>
            <a:r>
              <a:rPr sz="1100">
                <a:solidFill>
                  <a:srgbClr val="222222"/>
                </a:solidFill>
              </a:rPr>
              <a:t>© 2026 Anticloud FZ LLE, UAE Free Zone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
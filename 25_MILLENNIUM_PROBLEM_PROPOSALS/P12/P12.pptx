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4FC3F7"/>
                </a:solidFill>
              </a:rPr>
              <a:t>Turbulence Structure and Prediction</a:t>
            </a:r>
            <a:br/>
            <a:r>
              <a:t>A Computational Research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CCCCEE"/>
                </a:solidFill>
              </a:rPr>
              <a:t>Lois-Kleinner Alpasan | Anticloud FZ LLE, UAE Free Zone</a:t>
            </a:r>
          </a:p>
          <a:p>
            <a:r>
              <a:rPr sz="1100">
                <a:solidFill>
                  <a:srgbClr val="CCCCEE"/>
                </a:solidFill>
              </a:rPr>
              <a:t>PAX L5 Narrow L2 General 27B | 2026-10-02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A3D62"/>
                </a:solidFill>
              </a:rPr>
              <a:t>PAX Self-Assessment — Confidence Dimensions</a:t>
            </a:r>
          </a:p>
        </p:txBody>
      </p:sp>
      <p:pic>
        <p:nvPicPr>
          <p:cNvPr id="3" name="Picture 2" descr="P12_v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777240"/>
            <a:ext cx="694944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A3D62"/>
                </a:solidFill>
              </a:rPr>
              <a:t>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**Core Hypothesis**</a:t>
            </a:r>
          </a:p>
          <a:p>
            <a:r>
              <a:rPr sz="1100">
                <a:solidFill>
                  <a:srgbClr val="222222"/>
                </a:solidFill>
              </a:rPr>
              <a:t>Turbulence is not merely a chaotic cascade of energy across scales as traditionally modeled by the Kolmogorov k^-5/3 spectrum, but rather a **high-dimensional stochastic dynamical system evolving on 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A3D62"/>
                </a:solidFill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The Turbulence Structure and Prediction (Physics/Engineering) is one of the most consequential unsolved problems in science.</a:t>
            </a:r>
          </a:p>
          <a:p/>
          <a:p>
            <a:r>
              <a:rPr sz="1100">
                <a:solidFill>
                  <a:srgbClr val="222222"/>
                </a:solidFill>
              </a:rPr>
              <a:t>This framework synthesizes operator theory, algebraic geometry, and modern computational approaches into a structured research scaffold generated by PAX L5 Narrow L2 General 27B.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A3D62"/>
                </a:solidFill>
              </a:rPr>
              <a:t>Proposed Solution: The Stochastic Manifold Closure (SMC) Framework for Anisotrop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Core Hypothesis</a:t>
            </a:r>
          </a:p>
          <a:p>
            <a:r>
              <a:rPr sz="1100">
                <a:solidFill>
                  <a:srgbClr val="222222"/>
                </a:solidFill>
              </a:rPr>
              <a:t>Turbulence is not merely a chaotic cascade of energy across scales as traditionally modeled by the Kolmogorov k^-5/3 spectrum, but rather a high-dimensional stochastic dynamical system evolving on a l</a:t>
            </a:r>
          </a:p>
          <a:p/>
          <a:p>
            <a:r>
              <a:rPr sz="1100">
                <a:solidFill>
                  <a:srgbClr val="222222"/>
                </a:solidFill>
              </a:rPr>
              <a:t>The central hypothesis posits that the closure problem in Reynolds-Averaged Navier-Stokes (RANS) and Large Eddy Simulation (LES)—specifically the unknown stress tensor τ_ij = (u_i u_j) - u_i u_j—can 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A3D62"/>
                </a:solidFill>
              </a:rPr>
              <a:t>Mathematical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We define the flow state at time t and position x by the vector U(t, x). We decompose this into a resolved mean component u and a fluctuating component u':</a:t>
            </a:r>
          </a:p>
          <a:p>
            <a:r>
              <a:rPr sz="1100">
                <a:solidFill>
                  <a:srgbClr val="222222"/>
                </a:solidFill>
              </a:rPr>
              <a:t> U = u + u' </a:t>
            </a:r>
          </a:p>
          <a:p/>
          <a:p>
            <a:r>
              <a:rPr sz="1100">
                <a:solidFill>
                  <a:srgbClr val="222222"/>
                </a:solidFill>
              </a:rPr>
              <a:t>1. The Manifold Constraint:</a:t>
            </a:r>
          </a:p>
          <a:p>
            <a:r>
              <a:rPr sz="1100">
                <a:solidFill>
                  <a:srgbClr val="222222"/>
                </a:solidFill>
              </a:rPr>
              <a:t>Let M be the attractor manifold in phase space defined by the slow modes of the Navier-Stokes equations. We approximate the evolution of the conditional PDF P(u' | u, t) using a truncated spectral exp</a:t>
            </a:r>
          </a:p>
          <a:p>
            <a:r>
              <a:rPr sz="1100">
                <a:solidFill>
                  <a:srgbClr val="222222"/>
                </a:solidFill>
              </a:rPr>
              <a:t> P(u') = φ_0(u') [ 1 + Σ_n=1^N c_n(t) H_n(u') ] </a:t>
            </a:r>
          </a:p>
          <a:p>
            <a:r>
              <a:rPr sz="1100">
                <a:solidFill>
                  <a:srgbClr val="222222"/>
                </a:solidFill>
              </a:rPr>
              <a:t>where φ_0 is a reference Gaussian, H_n are basis func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A3D62"/>
                </a:solidFill>
              </a:rPr>
              <a:t>Proof Sketch / Key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To establish the validity of the SMC framework, the following logical progression is required:</a:t>
            </a:r>
          </a:p>
          <a:p/>
          <a:p>
            <a:r>
              <a:rPr sz="1100">
                <a:solidFill>
                  <a:srgbClr val="222222"/>
                </a:solidFill>
              </a:rPr>
              <a:t>1. Existence of the Invariant Manifold:</a:t>
            </a:r>
          </a:p>
          <a:p>
            <a:r>
              <a:rPr sz="1100">
                <a:solidFill>
                  <a:srgbClr val="222222"/>
                </a:solidFill>
              </a:rPr>
              <a:t> * Utilize Center Manifold Theory applied to the infinite-dimensional Navier-Stokes semigroup. Demonstrate that for high Reynolds numbers (Re ∞), the fast dissipative modes decay rapidly, leaving a fi</a:t>
            </a:r>
          </a:p>
          <a:p>
            <a:r>
              <a:rPr sz="1100">
                <a:solidFill>
                  <a:srgbClr val="222222"/>
                </a:solidFill>
              </a:rPr>
              <a:t> Key Argument:* Numerical evidence from Direct Numerical Simulation (DNS) shows that the dimensionality of the active vorticity structures grows logarithmically with Re, supporting the low-dimensional</a:t>
            </a:r>
          </a:p>
          <a:p/>
          <a:p>
            <a:r>
              <a:rPr sz="1100">
                <a:solidFill>
                  <a:srgbClr val="222222"/>
                </a:solidFill>
              </a:rPr>
              <a:t>2. Derivation of the Fokker-Planck Operator:</a:t>
            </a:r>
          </a:p>
          <a:p>
            <a:r>
              <a:rPr sz="1100">
                <a:solidFill>
                  <a:srgbClr val="222222"/>
                </a:solidFill>
              </a:rPr>
              <a:t> * Apply the Itô calculus formalism to the proposed 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A3D62"/>
                </a:solidFill>
              </a:rPr>
              <a:t>Conclusion &amp; Provenance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8412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Structured pathways toward resolution of the Turbulence Structure and Prediction.</a:t>
            </a:r>
          </a:p>
          <a:p>
            <a:r>
              <a:rPr sz="1100">
                <a:solidFill>
                  <a:srgbClr val="222222"/>
                </a:solidFill>
              </a:rPr>
              <a:t>Formal verification by domain experts is the immediate next step.</a:t>
            </a:r>
          </a:p>
          <a:p/>
          <a:p>
            <a:r>
              <a:rPr sz="1100">
                <a:solidFill>
                  <a:srgbClr val="222222"/>
                </a:solidFill>
              </a:rPr>
              <a:t>SHA3-256: 06fcd7f95447cac90a4de711d0111e81...</a:t>
            </a:r>
          </a:p>
          <a:p>
            <a:r>
              <a:rPr sz="1100">
                <a:solidFill>
                  <a:srgbClr val="222222"/>
                </a:solidFill>
              </a:rPr>
              <a:t>Genesis: 8b4a8a4f6312dfbe885de82807169856...</a:t>
            </a:r>
          </a:p>
          <a:p>
            <a:r>
              <a:rPr sz="1100">
                <a:solidFill>
                  <a:srgbClr val="222222"/>
                </a:solidFill>
              </a:rPr>
              <a:t>© 2026 Anticloud FZ LLE, UAE Free Zone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